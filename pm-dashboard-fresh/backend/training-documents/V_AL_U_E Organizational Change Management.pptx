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5811" autoAdjust="0"/>
  </p:normalViewPr>
  <p:slideViewPr>
    <p:cSldViewPr snapToGrid="0">
      <p:cViewPr varScale="1">
        <p:scale>
          <a:sx n="58" d="100"/>
          <a:sy n="58" d="100"/>
        </p:scale>
        <p:origin x="25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DD529-56D6-4BA3-BB5E-6A68F210398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C72F6-3B99-4042-AE35-03C449BD3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21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– Articulate the Future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latin typeface="Arial Narrow" panose="020B0606020202030204" pitchFamily="34" charset="0"/>
              </a:rPr>
              <a:t>Envision the future       Identify contradictions in the present       Define strategies to move toward the future</a:t>
            </a:r>
          </a:p>
          <a:p>
            <a:endParaRPr lang="en-US" dirty="0"/>
          </a:p>
          <a:p>
            <a:r>
              <a:rPr lang="en-US" dirty="0" err="1"/>
              <a:t>ALignment</a:t>
            </a:r>
            <a:r>
              <a:rPr lang="en-US" dirty="0"/>
              <a:t> – Plan, up-front, the total resources needed to successfully pursue the vision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200" dirty="0">
                <a:latin typeface="Arial Narrow" panose="020B0606020202030204" pitchFamily="34" charset="0"/>
              </a:rPr>
              <a:t>Identify primary interventions to change the present condition to the preferred future</a:t>
            </a:r>
          </a:p>
          <a:p>
            <a:pPr indent="0">
              <a:spcBef>
                <a:spcPts val="600"/>
              </a:spcBef>
              <a:buNone/>
            </a:pPr>
            <a:r>
              <a:rPr lang="en-US" altLang="en-US" sz="1200" dirty="0">
                <a:latin typeface="Arial Narrow" panose="020B0606020202030204" pitchFamily="34" charset="0"/>
              </a:rPr>
              <a:t>Align secondary interventions to manage shock waves and focus energy on success of the primary interventions   </a:t>
            </a:r>
          </a:p>
          <a:p>
            <a:pPr indent="0">
              <a:spcBef>
                <a:spcPts val="600"/>
              </a:spcBef>
              <a:buNone/>
            </a:pPr>
            <a:r>
              <a:rPr lang="en-US" altLang="en-US" sz="1200" dirty="0">
                <a:latin typeface="Arial Narrow" panose="020B0606020202030204" pitchFamily="34" charset="0"/>
              </a:rPr>
              <a:t>Draft a project plan for change</a:t>
            </a:r>
          </a:p>
          <a:p>
            <a:pPr indent="0">
              <a:spcBef>
                <a:spcPts val="600"/>
              </a:spcBef>
              <a:buNone/>
            </a:pPr>
            <a:r>
              <a:rPr lang="en-US" altLang="en-US" sz="1200" dirty="0">
                <a:latin typeface="Arial Narrow" panose="020B0606020202030204" pitchFamily="34" charset="0"/>
              </a:rPr>
              <a:t>Consider the four reasons people do not change: I don’t know how, I can’t, I don’t want to, I don’t know why – use the 12 areas to explore these four areas</a:t>
            </a:r>
          </a:p>
          <a:p>
            <a:pPr indent="0">
              <a:spcBef>
                <a:spcPts val="600"/>
              </a:spcBef>
              <a:buNone/>
            </a:pPr>
            <a:endParaRPr lang="en-US" altLang="en-US" sz="1200" dirty="0">
              <a:latin typeface="Arial Narrow" panose="020B0606020202030204" pitchFamily="34" charset="0"/>
            </a:endParaRPr>
          </a:p>
          <a:p>
            <a:pPr indent="0">
              <a:spcBef>
                <a:spcPts val="600"/>
              </a:spcBef>
              <a:buNone/>
            </a:pPr>
            <a:r>
              <a:rPr lang="en-US" altLang="en-US" sz="1200" dirty="0">
                <a:latin typeface="Arial Narrow" panose="020B0606020202030204" pitchFamily="34" charset="0"/>
              </a:rPr>
              <a:t>Understanding – Prepare people and the environment so they are “ready” for the solutions</a:t>
            </a:r>
          </a:p>
          <a:p>
            <a:r>
              <a:rPr lang="en-US" altLang="en-US" dirty="0"/>
              <a:t>Create communication structures</a:t>
            </a:r>
          </a:p>
          <a:p>
            <a:r>
              <a:rPr lang="en-US" altLang="en-US" dirty="0"/>
              <a:t>Probe for misunderstanding, resistance, disconnects</a:t>
            </a:r>
          </a:p>
          <a:p>
            <a:r>
              <a:rPr lang="en-US" altLang="en-US" dirty="0"/>
              <a:t>Enhance vision and adjust alignment</a:t>
            </a:r>
          </a:p>
          <a:p>
            <a:r>
              <a:rPr lang="en-US" altLang="en-US" dirty="0"/>
              <a:t>Nurture mulching time</a:t>
            </a:r>
          </a:p>
          <a:p>
            <a:r>
              <a:rPr lang="en-US" altLang="en-US" dirty="0"/>
              <a:t>Facilitate resolutions</a:t>
            </a:r>
          </a:p>
          <a:p>
            <a:r>
              <a:rPr lang="en-US" altLang="en-US" dirty="0"/>
              <a:t>Consider what level communications need to be at: Individuals, Groups, the whole Organization</a:t>
            </a:r>
          </a:p>
          <a:p>
            <a:endParaRPr lang="en-US" altLang="en-US" dirty="0"/>
          </a:p>
          <a:p>
            <a:r>
              <a:rPr lang="en-US" altLang="en-US" dirty="0"/>
              <a:t>Enactment – Empower people to live the vision</a:t>
            </a:r>
          </a:p>
          <a:p>
            <a:pPr marL="0" indent="0">
              <a:buNone/>
            </a:pPr>
            <a:r>
              <a:rPr lang="en-US" altLang="en-US" sz="1200" dirty="0">
                <a:latin typeface="Arial Narrow" panose="020B0606020202030204" pitchFamily="34" charset="0"/>
              </a:rPr>
              <a:t>Implement the aligned resources against the primary and secondary interventions</a:t>
            </a:r>
          </a:p>
          <a:p>
            <a:pPr marL="0" indent="0">
              <a:buNone/>
            </a:pPr>
            <a:r>
              <a:rPr lang="en-US" altLang="en-US" sz="1200" dirty="0">
                <a:latin typeface="Arial Narrow" panose="020B0606020202030204" pitchFamily="34" charset="0"/>
              </a:rPr>
              <a:t>Manage the “chronological fit” of aligned resources</a:t>
            </a:r>
          </a:p>
          <a:p>
            <a:pPr marL="0" indent="0">
              <a:buNone/>
            </a:pPr>
            <a:r>
              <a:rPr lang="en-US" altLang="en-US" sz="1200" dirty="0">
                <a:latin typeface="Arial Narrow" panose="020B0606020202030204" pitchFamily="34" charset="0"/>
              </a:rPr>
              <a:t>Monitor the aligned organization for sustained performance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C72F6-3B99-4042-AE35-03C449BD34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95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34A279C4-943D-AA0D-F3A0-8705E99EC6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874E496-DE14-4F22-897E-7C0BFC16422D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2980175A-6B40-838C-109D-454F648E3FC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77C541DB-817D-8CEE-EA21-47A7806A4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9E69F-927D-F4E7-63F6-F0BE6FA03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FA50B-3E4D-DF16-D674-B76E1E38F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470C3-0D86-F3B7-1BA3-D54EA1A78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12C15-D80B-0250-5781-9F7BA75D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98183-48FB-1E1C-4FC6-F8446016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7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2712-C60D-26D2-CB7E-3FD540F1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295E5-7AB6-EB3B-0750-FE629985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0A4D0-8130-BBFD-38F8-A7D57E3C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ADA25-9A1E-D8BA-CE6D-7063565E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A5D00-6E49-6EEA-8ABE-14AA425A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2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2AA6-FE3E-83C9-B40E-C570CD5AF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3864E-6B25-7F7B-FDBC-AB2BB13A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A88F5-0546-216B-1C56-CF508D619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53532-ED5F-C5EF-5EC6-4DB466580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1D537-DA04-983C-C724-9B35F1CA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0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1027-ED26-A68C-4C8B-40687F4D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2B6E8-6F1E-FC19-00BA-DCFDF641A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2803F-CAAC-1D99-934D-366409772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5481B-E716-7802-D89D-614177E7F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1D968-BE3D-8E8A-689B-93F58BCC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B8F3-AD77-1CBF-DB2E-D133EBBA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1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32EB-352D-BEC6-59C6-715F2C05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992E4-2F0E-6FDA-7A53-378D76652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85515-15D4-B00C-EC75-9C4D84BC9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9F5890-D7E2-AA3E-4925-E08593689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AA302B-B6ED-EF34-E433-511545D79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A39C11-AB98-0FCA-30CB-489F4F19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92432E-0DF0-9D5A-83DA-A22A64D4B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04B4B-CE23-34D9-7412-EDEAC12B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0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B17AC-0559-AF39-5422-240927EB4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1C280-36CA-80E2-5705-17B532951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585A5-1523-C450-B0AB-8273CB69C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4A7BB-D438-2B67-EEB5-07D621AB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8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A6817-3670-E597-0B9B-44781FFA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3ECB7-DB4A-B485-1333-FCA996341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420B9-76D4-9731-F5DF-44C46164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5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8908-3BBE-0EE5-55BF-89F2BCB5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774A7-93BD-6229-C535-F841F4FC4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78C2A-13CD-ACB1-C86E-7A79E30B3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A699E-7234-D9F2-4A6A-67E6BC14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6C82C-90A8-A50A-D0DD-51376B8DC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20ED7-3874-409B-7750-E9FD4E72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3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04578-6B63-1DFC-70EC-03B9E123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0D652-712C-7F2E-E6BF-D13622C1E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CD913-1F62-B0CC-0C9F-9A5975EC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2B40F-C8C7-8535-8C31-D4B1B270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2020C-C9B5-E16E-D425-52F0D04A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0B0D0-F3E7-AD2A-1432-C9D2EA9BD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4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A738-3C11-D1DE-E761-721B5497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7FC26-E43C-A469-12E5-8AA65DEBF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D19A6-86CB-80D7-40E0-C1601A223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5AEA1-EF67-B188-36AE-B555762E2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12FC7-8A24-D723-A3A8-5B55B801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2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48AFE1-5877-6FE4-E0C5-C649B08AF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F28EB-3657-1973-8618-D81EACDD4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C0F1C-464F-E36A-F4AB-93C56C91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F7F3-8757-0A09-8761-DFD04CB03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8F9C5-1680-17B7-50C6-B5AB8187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7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2CBA4-5F6F-2730-9AB3-A44C1B83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2E61D-2E0B-2C18-EB04-375920868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01E87-04DC-9C9F-2CD1-1211CE97E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5247C-BAED-4DB8-8489-96C14ED4473F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44E08-3B0B-1FDD-8466-B84B18BE4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31DB6-D798-9CE2-4CCC-7349FD39B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1BB75-3C88-4D09-9A14-0BF32884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5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06092-EA41-9FD0-7E7C-031C5E2E4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0" y="107285"/>
            <a:ext cx="7579960" cy="415925"/>
          </a:xfrm>
        </p:spPr>
        <p:txBody>
          <a:bodyPr>
            <a:normAutofit fontScale="90000"/>
          </a:bodyPr>
          <a:lstStyle/>
          <a:p>
            <a:pPr algn="r"/>
            <a:r>
              <a:rPr lang="en-US" sz="3200" dirty="0">
                <a:latin typeface="Arial Black" panose="020B0A04020102020204" pitchFamily="34" charset="0"/>
              </a:rPr>
              <a:t>Organizational Change Management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E40855-8E94-E8D5-17C7-64B9E2161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112712"/>
            <a:ext cx="82296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Vision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B780D2F-FC51-7555-E1DD-83A1830DA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08037"/>
            <a:ext cx="8229600" cy="457200"/>
          </a:xfrm>
          <a:prstGeom prst="rect">
            <a:avLst/>
          </a:prstGeom>
          <a:solidFill>
            <a:srgbClr val="BBE0E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otype Corsiva" panose="03010101010201010101" pitchFamily="66" charset="0"/>
              </a:rPr>
              <a:t>Articulate the future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E858540-CC92-FAD0-BEF0-3B077BF96157}"/>
              </a:ext>
            </a:extLst>
          </p:cNvPr>
          <p:cNvSpPr txBox="1">
            <a:spLocks noChangeArrowheads="1"/>
          </p:cNvSpPr>
          <p:nvPr/>
        </p:nvSpPr>
        <p:spPr>
          <a:xfrm>
            <a:off x="1620001" y="1352550"/>
            <a:ext cx="8229600" cy="415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1600" dirty="0">
              <a:latin typeface="Arial Narrow" panose="020B060602020203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7EFECA7-84A3-5994-6B61-CD586595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025" y="1600446"/>
            <a:ext cx="7077826" cy="650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ALignment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1A1A83A-403B-BF41-93CC-DEC944C62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024" y="2318078"/>
            <a:ext cx="8620125" cy="45720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Monotype Corsiva" panose="03010101010201010101" pitchFamily="66" charset="0"/>
              </a:rPr>
              <a:t>Plan, up-front, the total resources needed to successfully pursue the vision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0D83FC2-A565-F696-C7E4-0CE245668BD7}"/>
              </a:ext>
            </a:extLst>
          </p:cNvPr>
          <p:cNvGrpSpPr/>
          <p:nvPr/>
        </p:nvGrpSpPr>
        <p:grpSpPr>
          <a:xfrm>
            <a:off x="374215" y="660971"/>
            <a:ext cx="967091" cy="948769"/>
            <a:chOff x="365972" y="1202795"/>
            <a:chExt cx="967091" cy="94876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A6E50A-6882-FB45-268C-96D428AF7C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45135">
              <a:off x="365972" y="1202795"/>
              <a:ext cx="707835" cy="731940"/>
            </a:xfrm>
            <a:prstGeom prst="rect">
              <a:avLst/>
            </a:prstGeom>
            <a:solidFill>
              <a:srgbClr val="BBE0E3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1" name="Oval 4">
              <a:extLst>
                <a:ext uri="{FF2B5EF4-FFF2-40B4-BE49-F238E27FC236}">
                  <a16:creationId xmlns:a16="http://schemas.microsoft.com/office/drawing/2014/main" id="{94020C06-8484-78BC-64EC-C21FF729A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426" y="1543842"/>
              <a:ext cx="622637" cy="607722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353B22A0-B76F-FD2E-134C-903883B34727}"/>
              </a:ext>
            </a:extLst>
          </p:cNvPr>
          <p:cNvSpPr txBox="1">
            <a:spLocks noChangeArrowheads="1"/>
          </p:cNvSpPr>
          <p:nvPr/>
        </p:nvSpPr>
        <p:spPr>
          <a:xfrm>
            <a:off x="2105025" y="2842117"/>
            <a:ext cx="8763000" cy="1282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altLang="en-US" sz="1600" dirty="0">
              <a:latin typeface="Arial Narrow" panose="020B060602020203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42A83D-1F80-BE94-D88D-6722FEBA25D0}"/>
              </a:ext>
            </a:extLst>
          </p:cNvPr>
          <p:cNvGrpSpPr/>
          <p:nvPr/>
        </p:nvGrpSpPr>
        <p:grpSpPr>
          <a:xfrm>
            <a:off x="1072812" y="2172028"/>
            <a:ext cx="765909" cy="788987"/>
            <a:chOff x="7239000" y="4724400"/>
            <a:chExt cx="1143000" cy="1143000"/>
          </a:xfrm>
        </p:grpSpPr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5D94DFBD-EA9E-0EBF-63DF-194A899D3A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45135">
              <a:off x="7239000" y="4724400"/>
              <a:ext cx="1143000" cy="1143000"/>
            </a:xfrm>
            <a:prstGeom prst="rect">
              <a:avLst/>
            </a:prstGeom>
            <a:noFill/>
            <a:ln w="2857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2F98A22B-9B7B-9C77-0FEE-7F774D5917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45135">
              <a:off x="7315200" y="4792663"/>
              <a:ext cx="990600" cy="990600"/>
            </a:xfrm>
            <a:prstGeom prst="rect">
              <a:avLst/>
            </a:prstGeom>
            <a:solidFill>
              <a:srgbClr val="BBE0E3"/>
            </a:solidFill>
            <a:ln w="76200" cap="rnd">
              <a:solidFill>
                <a:srgbClr val="FF3399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20" name="Rectangle 4">
            <a:extLst>
              <a:ext uri="{FF2B5EF4-FFF2-40B4-BE49-F238E27FC236}">
                <a16:creationId xmlns:a16="http://schemas.microsoft.com/office/drawing/2014/main" id="{904B0897-0D7B-72E7-9A62-8BA7816D7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251" y="3428630"/>
            <a:ext cx="8229600" cy="51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Understanding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91B60A73-E967-9A10-6CBD-51743E007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251" y="4010506"/>
            <a:ext cx="8229600" cy="4572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Monotype Corsiva" panose="03010101010201010101" pitchFamily="66" charset="0"/>
              </a:rPr>
              <a:t>Prepare people and the environment so they are “ready” for the solutions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FC799F9-F56D-CDDD-4624-BE60F54B499B}"/>
              </a:ext>
            </a:extLst>
          </p:cNvPr>
          <p:cNvGrpSpPr/>
          <p:nvPr/>
        </p:nvGrpSpPr>
        <p:grpSpPr>
          <a:xfrm>
            <a:off x="2209800" y="3867115"/>
            <a:ext cx="792796" cy="759026"/>
            <a:chOff x="2133598" y="4503153"/>
            <a:chExt cx="857250" cy="82867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4" name="Rectangle 17">
              <a:extLst>
                <a:ext uri="{FF2B5EF4-FFF2-40B4-BE49-F238E27FC236}">
                  <a16:creationId xmlns:a16="http://schemas.microsoft.com/office/drawing/2014/main" id="{730BDB81-6694-4E3B-9C89-91736F7FB1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45135">
              <a:off x="2133598" y="4503153"/>
              <a:ext cx="857250" cy="828675"/>
            </a:xfrm>
            <a:prstGeom prst="rect">
              <a:avLst/>
            </a:prstGeom>
            <a:grpFill/>
            <a:ln w="28575">
              <a:solidFill>
                <a:srgbClr val="00B05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8C5670BE-E60A-A056-6F89-1A74875011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45135">
              <a:off x="2190748" y="4552644"/>
              <a:ext cx="742950" cy="718185"/>
            </a:xfrm>
            <a:prstGeom prst="rect">
              <a:avLst/>
            </a:prstGeom>
            <a:grpFill/>
            <a:ln w="76200" cap="rnd">
              <a:solidFill>
                <a:srgbClr val="FF3399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27" name="Rectangle 17">
            <a:extLst>
              <a:ext uri="{FF2B5EF4-FFF2-40B4-BE49-F238E27FC236}">
                <a16:creationId xmlns:a16="http://schemas.microsoft.com/office/drawing/2014/main" id="{C630A14B-86BC-7C4F-92EA-ACE2913E1AEA}"/>
              </a:ext>
            </a:extLst>
          </p:cNvPr>
          <p:cNvSpPr txBox="1">
            <a:spLocks noChangeArrowheads="1"/>
          </p:cNvSpPr>
          <p:nvPr/>
        </p:nvSpPr>
        <p:spPr>
          <a:xfrm>
            <a:off x="4143375" y="5245424"/>
            <a:ext cx="7839075" cy="6230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b="1" dirty="0">
                <a:solidFill>
                  <a:srgbClr val="990099"/>
                </a:solidFill>
              </a:rPr>
              <a:t>Enactment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61C16090-D9F9-EF17-F158-D315FB78C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5800997"/>
            <a:ext cx="7913335" cy="457200"/>
          </a:xfrm>
          <a:prstGeom prst="rect">
            <a:avLst/>
          </a:prstGeom>
          <a:solidFill>
            <a:srgbClr val="CC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Monotype Corsiva" panose="03010101010201010101" pitchFamily="66" charset="0"/>
              </a:rPr>
              <a:t>Empower people to live the vision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FE21D2D-5AE0-E688-DF5B-12C2B7CF41F7}"/>
              </a:ext>
            </a:extLst>
          </p:cNvPr>
          <p:cNvGrpSpPr/>
          <p:nvPr/>
        </p:nvGrpSpPr>
        <p:grpSpPr>
          <a:xfrm>
            <a:off x="3262251" y="5721868"/>
            <a:ext cx="665394" cy="656189"/>
            <a:chOff x="2133598" y="4503153"/>
            <a:chExt cx="857250" cy="828675"/>
          </a:xfrm>
          <a:solidFill>
            <a:srgbClr val="7030A0">
              <a:alpha val="18000"/>
            </a:srgbClr>
          </a:solidFill>
        </p:grpSpPr>
        <p:sp>
          <p:nvSpPr>
            <p:cNvPr id="30" name="Rectangle 17">
              <a:extLst>
                <a:ext uri="{FF2B5EF4-FFF2-40B4-BE49-F238E27FC236}">
                  <a16:creationId xmlns:a16="http://schemas.microsoft.com/office/drawing/2014/main" id="{9191155E-6690-6757-1B6E-CD99FB8EBB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45135">
              <a:off x="2133598" y="4503153"/>
              <a:ext cx="857250" cy="828675"/>
            </a:xfrm>
            <a:prstGeom prst="rect">
              <a:avLst/>
            </a:prstGeom>
            <a:grpFill/>
            <a:ln w="28575">
              <a:solidFill>
                <a:srgbClr val="00B05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31" name="Rectangle 18">
              <a:extLst>
                <a:ext uri="{FF2B5EF4-FFF2-40B4-BE49-F238E27FC236}">
                  <a16:creationId xmlns:a16="http://schemas.microsoft.com/office/drawing/2014/main" id="{12C62709-0838-E411-46AF-75EB186E6D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45135">
              <a:off x="2190748" y="4552644"/>
              <a:ext cx="742950" cy="718185"/>
            </a:xfrm>
            <a:prstGeom prst="rect">
              <a:avLst/>
            </a:prstGeom>
            <a:grpFill/>
            <a:ln w="76200" cap="rnd">
              <a:solidFill>
                <a:srgbClr val="FF3399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6A410A2-E340-2612-834B-EBF116F77AC6}"/>
              </a:ext>
            </a:extLst>
          </p:cNvPr>
          <p:cNvGrpSpPr/>
          <p:nvPr/>
        </p:nvGrpSpPr>
        <p:grpSpPr>
          <a:xfrm>
            <a:off x="63163" y="26092"/>
            <a:ext cx="1009650" cy="366713"/>
            <a:chOff x="285750" y="6324600"/>
            <a:chExt cx="1009650" cy="366713"/>
          </a:xfrm>
        </p:grpSpPr>
        <p:sp>
          <p:nvSpPr>
            <p:cNvPr id="35" name="Rectangle 4">
              <a:extLst>
                <a:ext uri="{FF2B5EF4-FFF2-40B4-BE49-F238E27FC236}">
                  <a16:creationId xmlns:a16="http://schemas.microsoft.com/office/drawing/2014/main" id="{EBF439B2-A513-CC77-45DA-9C22DFCD7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" y="6324600"/>
              <a:ext cx="8064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V</a:t>
              </a: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3399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AL</a:t>
              </a: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U</a:t>
              </a:r>
            </a:p>
          </p:txBody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37C37FEF-B7E5-7597-F8CE-0B9011D55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" y="6324600"/>
              <a:ext cx="704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V</a:t>
              </a:r>
              <a:r>
                <a:rPr kumimoji="0" lang="en-US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3399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AL</a:t>
              </a:r>
              <a:r>
                <a:rPr kumimoji="0" lang="en-US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37" name="Rectangle 28">
              <a:extLst>
                <a:ext uri="{FF2B5EF4-FFF2-40B4-BE49-F238E27FC236}">
                  <a16:creationId xmlns:a16="http://schemas.microsoft.com/office/drawing/2014/main" id="{C4F201BB-52F4-0EA3-367F-B2526E1C3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6324600"/>
              <a:ext cx="2476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FEA4C336-EECE-0E83-187B-BBE7C2FC8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" y="6324600"/>
              <a:ext cx="400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E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3EB5B16-85DC-8F1E-CADB-C7A0C33CD667}"/>
              </a:ext>
            </a:extLst>
          </p:cNvPr>
          <p:cNvGrpSpPr/>
          <p:nvPr/>
        </p:nvGrpSpPr>
        <p:grpSpPr>
          <a:xfrm>
            <a:off x="125765" y="6599307"/>
            <a:ext cx="2388827" cy="215444"/>
            <a:chOff x="125765" y="6599307"/>
            <a:chExt cx="2388827" cy="215444"/>
          </a:xfrm>
        </p:grpSpPr>
        <p:pic>
          <p:nvPicPr>
            <p:cNvPr id="40" name="Graphic 39" descr="Badge Copyright with solid fill">
              <a:extLst>
                <a:ext uri="{FF2B5EF4-FFF2-40B4-BE49-F238E27FC236}">
                  <a16:creationId xmlns:a16="http://schemas.microsoft.com/office/drawing/2014/main" id="{89530C3A-210E-EAC7-8DB1-A9D916C47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5765" y="6608449"/>
              <a:ext cx="187252" cy="187252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F7AF627-1431-4C36-8AFC-6BF35988E959}"/>
                </a:ext>
              </a:extLst>
            </p:cNvPr>
            <p:cNvSpPr txBox="1"/>
            <p:nvPr/>
          </p:nvSpPr>
          <p:spPr>
            <a:xfrm>
              <a:off x="247625" y="6599307"/>
              <a:ext cx="226696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 Narrow" panose="020B0606020202030204" pitchFamily="34" charset="0"/>
                </a:rPr>
                <a:t>2007/2017 Cynthia K Rose/Callahan &amp; Rose Consulting</a:t>
              </a:r>
            </a:p>
          </p:txBody>
        </p:sp>
      </p:grpSp>
      <p:sp>
        <p:nvSpPr>
          <p:cNvPr id="43" name="Text Box 7">
            <a:extLst>
              <a:ext uri="{FF2B5EF4-FFF2-40B4-BE49-F238E27FC236}">
                <a16:creationId xmlns:a16="http://schemas.microsoft.com/office/drawing/2014/main" id="{61CF5A6F-9735-6913-EE53-86336F520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936" y="2820183"/>
            <a:ext cx="780534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/>
              <a:t>Why don’t I change</a:t>
            </a:r>
            <a:r>
              <a:rPr lang="en-US" altLang="en-US" sz="1400" i="1" dirty="0"/>
              <a:t>?     I don’t know how          I can’t          I don’t want to           I don’t know why</a:t>
            </a:r>
          </a:p>
        </p:txBody>
      </p:sp>
      <p:sp>
        <p:nvSpPr>
          <p:cNvPr id="44" name="Text Box 8">
            <a:extLst>
              <a:ext uri="{FF2B5EF4-FFF2-40B4-BE49-F238E27FC236}">
                <a16:creationId xmlns:a16="http://schemas.microsoft.com/office/drawing/2014/main" id="{4EC5A53A-C1E0-BE7B-F338-CA94124E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6687" y="4533843"/>
            <a:ext cx="53078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 dirty="0"/>
              <a:t>At what level?           Individual             Group            Organization</a:t>
            </a:r>
          </a:p>
        </p:txBody>
      </p:sp>
      <p:sp>
        <p:nvSpPr>
          <p:cNvPr id="45" name="Text Box 32">
            <a:extLst>
              <a:ext uri="{FF2B5EF4-FFF2-40B4-BE49-F238E27FC236}">
                <a16:creationId xmlns:a16="http://schemas.microsoft.com/office/drawing/2014/main" id="{E53E1AC4-C447-E228-8B41-A7AE78CD3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6303298"/>
            <a:ext cx="21899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FontTx/>
              <a:buNone/>
              <a:defRPr sz="1400" i="1"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It’s all about performance</a:t>
            </a:r>
          </a:p>
        </p:txBody>
      </p:sp>
      <p:sp>
        <p:nvSpPr>
          <p:cNvPr id="46" name="Text Box 32">
            <a:extLst>
              <a:ext uri="{FF2B5EF4-FFF2-40B4-BE49-F238E27FC236}">
                <a16:creationId xmlns:a16="http://schemas.microsoft.com/office/drawing/2014/main" id="{BC606362-6DC1-DA2E-619F-C30070369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023" y="1281643"/>
            <a:ext cx="188545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FontTx/>
              <a:buNone/>
              <a:defRPr sz="1400" i="1"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Lofty and passionate!</a:t>
            </a:r>
          </a:p>
        </p:txBody>
      </p:sp>
    </p:spTree>
    <p:extLst>
      <p:ext uri="{BB962C8B-B14F-4D97-AF65-F5344CB8AC3E}">
        <p14:creationId xmlns:p14="http://schemas.microsoft.com/office/powerpoint/2010/main" val="205121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957F34F7-6467-9F7C-F2DF-A9B9E83C5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1" y="155575"/>
            <a:ext cx="514865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b="1"/>
              <a:t>12 Areas Supporting Performance</a:t>
            </a:r>
          </a:p>
        </p:txBody>
      </p:sp>
      <p:sp>
        <p:nvSpPr>
          <p:cNvPr id="3075" name="Line 5">
            <a:extLst>
              <a:ext uri="{FF2B5EF4-FFF2-40B4-BE49-F238E27FC236}">
                <a16:creationId xmlns:a16="http://schemas.microsoft.com/office/drawing/2014/main" id="{600E242A-2CDB-E53F-B8BE-7DD2D981A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2800" y="1219200"/>
            <a:ext cx="8026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Line 6">
            <a:extLst>
              <a:ext uri="{FF2B5EF4-FFF2-40B4-BE49-F238E27FC236}">
                <a16:creationId xmlns:a16="http://schemas.microsoft.com/office/drawing/2014/main" id="{11BD4865-11B5-4F1D-5727-185617E768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768350"/>
            <a:ext cx="0" cy="509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Line 7">
            <a:extLst>
              <a:ext uri="{FF2B5EF4-FFF2-40B4-BE49-F238E27FC236}">
                <a16:creationId xmlns:a16="http://schemas.microsoft.com/office/drawing/2014/main" id="{6FAFA842-75D8-2BF4-0CF9-5B81381F98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768350"/>
            <a:ext cx="0" cy="509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Line 8">
            <a:extLst>
              <a:ext uri="{FF2B5EF4-FFF2-40B4-BE49-F238E27FC236}">
                <a16:creationId xmlns:a16="http://schemas.microsoft.com/office/drawing/2014/main" id="{ACA685D1-00AF-5AF3-6D2D-ADEC4C6EA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692150"/>
            <a:ext cx="0" cy="516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Rectangle 9">
            <a:extLst>
              <a:ext uri="{FF2B5EF4-FFF2-40B4-BE49-F238E27FC236}">
                <a16:creationId xmlns:a16="http://schemas.microsoft.com/office/drawing/2014/main" id="{CA876ED5-2227-6938-FD98-49B0FD08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1" y="663576"/>
            <a:ext cx="214898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i="1"/>
              <a:t>I Don’t Know How</a:t>
            </a:r>
          </a:p>
        </p:txBody>
      </p:sp>
      <p:sp>
        <p:nvSpPr>
          <p:cNvPr id="3080" name="Rectangle 10">
            <a:extLst>
              <a:ext uri="{FF2B5EF4-FFF2-40B4-BE49-F238E27FC236}">
                <a16:creationId xmlns:a16="http://schemas.microsoft.com/office/drawing/2014/main" id="{EF5786D0-3E5D-2BC3-76F3-3E546E17D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4" y="663576"/>
            <a:ext cx="892233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i="1"/>
              <a:t>I Can’t</a:t>
            </a:r>
          </a:p>
        </p:txBody>
      </p:sp>
      <p:sp>
        <p:nvSpPr>
          <p:cNvPr id="3081" name="Rectangle 11">
            <a:extLst>
              <a:ext uri="{FF2B5EF4-FFF2-40B4-BE49-F238E27FC236}">
                <a16:creationId xmlns:a16="http://schemas.microsoft.com/office/drawing/2014/main" id="{AECEA030-B932-45EE-2DF8-23AFEEF5B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914" y="663575"/>
            <a:ext cx="1920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i="1"/>
              <a:t>I Don’t Want  To</a:t>
            </a:r>
          </a:p>
        </p:txBody>
      </p:sp>
      <p:sp>
        <p:nvSpPr>
          <p:cNvPr id="3082" name="Rectangle 12">
            <a:extLst>
              <a:ext uri="{FF2B5EF4-FFF2-40B4-BE49-F238E27FC236}">
                <a16:creationId xmlns:a16="http://schemas.microsoft.com/office/drawing/2014/main" id="{CA1AB5C1-C12F-47E7-F30F-2805C315C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3914" y="663576"/>
            <a:ext cx="214898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i="1"/>
              <a:t>I Don’t Know Why</a:t>
            </a:r>
          </a:p>
        </p:txBody>
      </p:sp>
      <p:sp>
        <p:nvSpPr>
          <p:cNvPr id="3083" name="Rectangle 13">
            <a:extLst>
              <a:ext uri="{FF2B5EF4-FFF2-40B4-BE49-F238E27FC236}">
                <a16:creationId xmlns:a16="http://schemas.microsoft.com/office/drawing/2014/main" id="{94DD1D3B-F58A-4BFA-360F-E6DEC30F9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4" y="1295401"/>
            <a:ext cx="2382063" cy="5198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/>
              <a:t>Work Process</a:t>
            </a:r>
          </a:p>
          <a:p>
            <a:r>
              <a:rPr lang="en-US" altLang="en-US" sz="1200"/>
              <a:t>Steps in process</a:t>
            </a:r>
          </a:p>
          <a:p>
            <a:r>
              <a:rPr lang="en-US" altLang="en-US" sz="1200"/>
              <a:t>Inputs / Outputs</a:t>
            </a:r>
          </a:p>
          <a:p>
            <a:r>
              <a:rPr lang="en-US" altLang="en-US" sz="1200"/>
              <a:t>Resources</a:t>
            </a:r>
          </a:p>
          <a:p>
            <a:r>
              <a:rPr lang="en-US" altLang="en-US" sz="1200"/>
              <a:t>Consequences / Rewards</a:t>
            </a:r>
          </a:p>
          <a:p>
            <a:r>
              <a:rPr lang="en-US" altLang="en-US" sz="1200"/>
              <a:t>Feedback</a:t>
            </a:r>
          </a:p>
          <a:p>
            <a:r>
              <a:rPr lang="en-US" altLang="en-US" sz="1200"/>
              <a:t>Task interference</a:t>
            </a:r>
          </a:p>
          <a:p>
            <a:r>
              <a:rPr lang="en-US" altLang="en-US" sz="1200"/>
              <a:t>Supplier</a:t>
            </a:r>
            <a:endParaRPr lang="en-US" altLang="en-US" sz="1600"/>
          </a:p>
          <a:p>
            <a:endParaRPr lang="en-US" altLang="en-US" sz="1600" b="1"/>
          </a:p>
          <a:p>
            <a:r>
              <a:rPr lang="en-US" altLang="en-US" sz="1600" b="1"/>
              <a:t>Job Tasks</a:t>
            </a:r>
          </a:p>
          <a:p>
            <a:r>
              <a:rPr lang="en-US" altLang="en-US" sz="1200"/>
              <a:t>Mission / Goal</a:t>
            </a:r>
          </a:p>
          <a:p>
            <a:r>
              <a:rPr lang="en-US" altLang="en-US" sz="1200"/>
              <a:t>Accomplishments</a:t>
            </a:r>
          </a:p>
          <a:p>
            <a:r>
              <a:rPr lang="en-US" altLang="en-US" sz="1200"/>
              <a:t>Major tasks</a:t>
            </a:r>
          </a:p>
          <a:p>
            <a:r>
              <a:rPr lang="en-US" altLang="en-US" sz="1200"/>
              <a:t>Detailed tasks</a:t>
            </a:r>
          </a:p>
          <a:p>
            <a:r>
              <a:rPr lang="en-US" altLang="en-US" sz="1200"/>
              <a:t>Characteristics of</a:t>
            </a:r>
          </a:p>
          <a:p>
            <a:r>
              <a:rPr lang="en-US" altLang="en-US" sz="1200"/>
              <a:t>   performance</a:t>
            </a:r>
          </a:p>
          <a:p>
            <a:r>
              <a:rPr lang="en-US" altLang="en-US" sz="1200"/>
              <a:t>Critical dimensions</a:t>
            </a:r>
          </a:p>
          <a:p>
            <a:r>
              <a:rPr lang="en-US" altLang="en-US" sz="1200"/>
              <a:t>Measurements / Standards</a:t>
            </a:r>
          </a:p>
          <a:p>
            <a:r>
              <a:rPr lang="en-US" altLang="en-US" sz="1200"/>
              <a:t>Workload</a:t>
            </a:r>
            <a:endParaRPr lang="en-US" altLang="en-US" sz="1400"/>
          </a:p>
          <a:p>
            <a:endParaRPr lang="en-US" altLang="en-US" sz="1600" b="1"/>
          </a:p>
          <a:p>
            <a:r>
              <a:rPr lang="en-US" altLang="en-US" sz="1600" b="1"/>
              <a:t>Training</a:t>
            </a:r>
          </a:p>
          <a:p>
            <a:r>
              <a:rPr lang="en-US" altLang="en-US" sz="1200"/>
              <a:t>Current skill and knowledge</a:t>
            </a:r>
          </a:p>
          <a:p>
            <a:r>
              <a:rPr lang="en-US" altLang="en-US" sz="1200"/>
              <a:t>Desired skill and knowledge</a:t>
            </a:r>
          </a:p>
          <a:p>
            <a:r>
              <a:rPr lang="en-US" altLang="en-US" sz="1200"/>
              <a:t>Gap</a:t>
            </a:r>
          </a:p>
          <a:p>
            <a:r>
              <a:rPr lang="en-US" altLang="en-US" sz="1200"/>
              <a:t>Acquiring skill and knowledge</a:t>
            </a:r>
          </a:p>
          <a:p>
            <a:r>
              <a:rPr lang="en-US" altLang="en-US" sz="1200"/>
              <a:t>Subject content and background</a:t>
            </a:r>
          </a:p>
        </p:txBody>
      </p:sp>
      <p:sp>
        <p:nvSpPr>
          <p:cNvPr id="3084" name="Rectangle 14">
            <a:extLst>
              <a:ext uri="{FF2B5EF4-FFF2-40B4-BE49-F238E27FC236}">
                <a16:creationId xmlns:a16="http://schemas.microsoft.com/office/drawing/2014/main" id="{72E3323B-7255-0AB4-EDD0-A660DEF5B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4" y="1295401"/>
            <a:ext cx="1955665" cy="427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/>
              <a:t>Technology</a:t>
            </a:r>
          </a:p>
          <a:p>
            <a:r>
              <a:rPr lang="en-US" altLang="en-US" sz="1200"/>
              <a:t> Hardware / Software</a:t>
            </a:r>
          </a:p>
          <a:p>
            <a:r>
              <a:rPr lang="en-US" altLang="en-US" sz="1200"/>
              <a:t>Complexity/Integration</a:t>
            </a:r>
          </a:p>
          <a:p>
            <a:r>
              <a:rPr lang="en-US" altLang="en-US" sz="1200"/>
              <a:t>Impact on work process</a:t>
            </a:r>
          </a:p>
          <a:p>
            <a:r>
              <a:rPr lang="en-US" altLang="en-US" sz="1200"/>
              <a:t>Users’ perception of</a:t>
            </a:r>
          </a:p>
          <a:p>
            <a:r>
              <a:rPr lang="en-US" altLang="en-US" sz="1200"/>
              <a:t>    technology</a:t>
            </a:r>
            <a:endParaRPr lang="en-US" altLang="en-US" sz="1400"/>
          </a:p>
          <a:p>
            <a:endParaRPr lang="en-US" altLang="en-US" sz="1600" b="1"/>
          </a:p>
          <a:p>
            <a:r>
              <a:rPr lang="en-US" altLang="en-US" sz="1600" b="1"/>
              <a:t>Ergonomics</a:t>
            </a:r>
            <a:endParaRPr lang="en-US" altLang="en-US" sz="1400" b="1"/>
          </a:p>
          <a:p>
            <a:r>
              <a:rPr lang="en-US" altLang="en-US" sz="1200"/>
              <a:t>Job requirements</a:t>
            </a:r>
          </a:p>
          <a:p>
            <a:r>
              <a:rPr lang="en-US" altLang="en-US" sz="1200"/>
              <a:t>Performance endurance</a:t>
            </a:r>
          </a:p>
          <a:p>
            <a:r>
              <a:rPr lang="en-US" altLang="en-US" sz="1200"/>
              <a:t>Workload/Capacity</a:t>
            </a:r>
          </a:p>
          <a:p>
            <a:r>
              <a:rPr lang="en-US" altLang="en-US" sz="1200"/>
              <a:t>Interaction between</a:t>
            </a:r>
          </a:p>
          <a:p>
            <a:r>
              <a:rPr lang="en-US" altLang="en-US" sz="1200"/>
              <a:t>   people and environment</a:t>
            </a:r>
          </a:p>
          <a:p>
            <a:r>
              <a:rPr lang="en-US" altLang="en-US" sz="1200"/>
              <a:t>Exposure</a:t>
            </a:r>
          </a:p>
          <a:p>
            <a:r>
              <a:rPr lang="en-US" altLang="en-US" sz="1200"/>
              <a:t>Potential stressors</a:t>
            </a:r>
            <a:endParaRPr lang="en-US" altLang="en-US" sz="1600"/>
          </a:p>
          <a:p>
            <a:endParaRPr lang="en-US" altLang="en-US" sz="1600" b="1"/>
          </a:p>
          <a:p>
            <a:r>
              <a:rPr lang="en-US" altLang="en-US" sz="1600" b="1"/>
              <a:t>Administrative</a:t>
            </a:r>
          </a:p>
          <a:p>
            <a:r>
              <a:rPr lang="en-US" altLang="en-US" sz="1200"/>
              <a:t>Job code/Salary structure</a:t>
            </a:r>
          </a:p>
          <a:p>
            <a:r>
              <a:rPr lang="en-US" altLang="en-US" sz="1200"/>
              <a:t>Daily operations</a:t>
            </a:r>
          </a:p>
          <a:p>
            <a:r>
              <a:rPr lang="en-US" altLang="en-US" sz="1200"/>
              <a:t>Facilities</a:t>
            </a:r>
          </a:p>
          <a:p>
            <a:r>
              <a:rPr lang="en-US" altLang="en-US" sz="1200"/>
              <a:t>Supplies</a:t>
            </a:r>
          </a:p>
        </p:txBody>
      </p:sp>
      <p:sp>
        <p:nvSpPr>
          <p:cNvPr id="3085" name="Rectangle 15">
            <a:extLst>
              <a:ext uri="{FF2B5EF4-FFF2-40B4-BE49-F238E27FC236}">
                <a16:creationId xmlns:a16="http://schemas.microsoft.com/office/drawing/2014/main" id="{8D32A378-638A-D934-8CAB-B1F2CE37D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4" y="1295401"/>
            <a:ext cx="2321149" cy="5568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/>
              <a:t>Performance Support</a:t>
            </a:r>
          </a:p>
          <a:p>
            <a:r>
              <a:rPr lang="en-US" altLang="en-US" sz="1200"/>
              <a:t>Consequences</a:t>
            </a:r>
          </a:p>
          <a:p>
            <a:r>
              <a:rPr lang="en-US" altLang="en-US" sz="1200"/>
              <a:t>Communication / Feedback</a:t>
            </a:r>
          </a:p>
          <a:p>
            <a:r>
              <a:rPr lang="en-US" altLang="en-US" sz="1200"/>
              <a:t>Recognition / Reward</a:t>
            </a:r>
          </a:p>
          <a:p>
            <a:r>
              <a:rPr lang="en-US" altLang="en-US" sz="1200"/>
              <a:t>Incentive</a:t>
            </a:r>
          </a:p>
          <a:p>
            <a:r>
              <a:rPr lang="en-US" altLang="en-US" sz="1200"/>
              <a:t>Value / Vision</a:t>
            </a:r>
          </a:p>
          <a:p>
            <a:r>
              <a:rPr lang="en-US" altLang="en-US" sz="1200"/>
              <a:t>Value of the employee to the</a:t>
            </a:r>
          </a:p>
          <a:p>
            <a:r>
              <a:rPr lang="en-US" altLang="en-US" sz="1200"/>
              <a:t>    market</a:t>
            </a:r>
          </a:p>
          <a:p>
            <a:r>
              <a:rPr lang="en-US" altLang="en-US" sz="1200"/>
              <a:t>Expectations</a:t>
            </a:r>
          </a:p>
          <a:p>
            <a:r>
              <a:rPr lang="en-US" altLang="en-US" sz="1200"/>
              <a:t>Coaching</a:t>
            </a:r>
          </a:p>
          <a:p>
            <a:r>
              <a:rPr lang="en-US" altLang="en-US" sz="1200"/>
              <a:t>Competing priorities</a:t>
            </a:r>
            <a:endParaRPr lang="en-US" altLang="en-US" sz="1600"/>
          </a:p>
          <a:p>
            <a:endParaRPr lang="en-US" altLang="en-US" sz="1600" b="1"/>
          </a:p>
          <a:p>
            <a:r>
              <a:rPr lang="en-US" altLang="en-US" sz="1600" b="1"/>
              <a:t>Social Structure</a:t>
            </a:r>
          </a:p>
          <a:p>
            <a:r>
              <a:rPr lang="en-US" altLang="en-US" sz="1200"/>
              <a:t>Culture</a:t>
            </a:r>
          </a:p>
          <a:p>
            <a:r>
              <a:rPr lang="en-US" altLang="en-US" sz="1200"/>
              <a:t>Change posture of organization</a:t>
            </a:r>
          </a:p>
          <a:p>
            <a:r>
              <a:rPr lang="en-US" altLang="en-US" sz="1200"/>
              <a:t>Organization design</a:t>
            </a:r>
          </a:p>
          <a:p>
            <a:r>
              <a:rPr lang="en-US" altLang="en-US" sz="1200"/>
              <a:t>Communication channels</a:t>
            </a:r>
          </a:p>
          <a:p>
            <a:r>
              <a:rPr lang="en-US" altLang="en-US" sz="1200"/>
              <a:t>Buy-in / Approval processes</a:t>
            </a:r>
          </a:p>
          <a:p>
            <a:r>
              <a:rPr lang="en-US" altLang="en-US" sz="1200"/>
              <a:t>System support</a:t>
            </a:r>
          </a:p>
          <a:p>
            <a:r>
              <a:rPr lang="en-US" altLang="en-US" sz="1200"/>
              <a:t>Job Security / Status</a:t>
            </a:r>
          </a:p>
          <a:p>
            <a:endParaRPr lang="en-US" altLang="en-US" sz="1600" b="1"/>
          </a:p>
          <a:p>
            <a:r>
              <a:rPr lang="en-US" altLang="en-US" sz="1600" b="1"/>
              <a:t>Management</a:t>
            </a:r>
          </a:p>
          <a:p>
            <a:r>
              <a:rPr lang="en-US" altLang="en-US" sz="1200"/>
              <a:t>Decision making scope</a:t>
            </a:r>
          </a:p>
          <a:p>
            <a:r>
              <a:rPr lang="en-US" altLang="en-US" sz="1200"/>
              <a:t>Resource management</a:t>
            </a:r>
          </a:p>
          <a:p>
            <a:r>
              <a:rPr lang="en-US" altLang="en-US" sz="1200"/>
              <a:t>Worker empowerment</a:t>
            </a:r>
          </a:p>
          <a:p>
            <a:r>
              <a:rPr lang="en-US" altLang="en-US" sz="1200"/>
              <a:t>Workload assignments</a:t>
            </a:r>
          </a:p>
          <a:p>
            <a:r>
              <a:rPr lang="en-US" altLang="en-US" sz="1200"/>
              <a:t>Understanding the workgroup /</a:t>
            </a:r>
          </a:p>
          <a:p>
            <a:r>
              <a:rPr lang="en-US" altLang="en-US" sz="1200"/>
              <a:t>   Organizational outputs</a:t>
            </a:r>
          </a:p>
        </p:txBody>
      </p:sp>
      <p:sp>
        <p:nvSpPr>
          <p:cNvPr id="3086" name="Rectangle 16">
            <a:extLst>
              <a:ext uri="{FF2B5EF4-FFF2-40B4-BE49-F238E27FC236}">
                <a16:creationId xmlns:a16="http://schemas.microsoft.com/office/drawing/2014/main" id="{52A18208-F5C4-CC63-5615-DCE5BAF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3914" y="1371600"/>
            <a:ext cx="2341989" cy="495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/>
              <a:t>Quality</a:t>
            </a:r>
          </a:p>
          <a:p>
            <a:r>
              <a:rPr lang="en-US" altLang="en-US" sz="1200"/>
              <a:t>Process inputs, outputs</a:t>
            </a:r>
          </a:p>
          <a:p>
            <a:r>
              <a:rPr lang="en-US" altLang="en-US" sz="1200"/>
              <a:t>Process constraints, </a:t>
            </a:r>
          </a:p>
          <a:p>
            <a:r>
              <a:rPr lang="en-US" altLang="en-US" sz="1200"/>
              <a:t>   consequences</a:t>
            </a:r>
          </a:p>
          <a:p>
            <a:r>
              <a:rPr lang="en-US" altLang="en-US" sz="1200"/>
              <a:t>Improvements</a:t>
            </a:r>
          </a:p>
          <a:p>
            <a:r>
              <a:rPr lang="en-US" altLang="en-US" sz="1200"/>
              <a:t>Underlying philosophy</a:t>
            </a:r>
          </a:p>
          <a:p>
            <a:r>
              <a:rPr lang="en-US" altLang="en-US" sz="1200"/>
              <a:t>Over commitment to philosophy</a:t>
            </a:r>
          </a:p>
          <a:p>
            <a:endParaRPr lang="en-US" altLang="en-US" sz="1600" b="1"/>
          </a:p>
          <a:p>
            <a:r>
              <a:rPr lang="en-US" altLang="en-US" sz="1600" b="1"/>
              <a:t>Financial </a:t>
            </a:r>
          </a:p>
          <a:p>
            <a:r>
              <a:rPr lang="en-US" altLang="en-US" sz="1600" b="1"/>
              <a:t>    Profitability</a:t>
            </a:r>
          </a:p>
          <a:p>
            <a:r>
              <a:rPr lang="en-US" altLang="en-US" sz="1200"/>
              <a:t>Situation before change</a:t>
            </a:r>
          </a:p>
          <a:p>
            <a:r>
              <a:rPr lang="en-US" altLang="en-US" sz="1200"/>
              <a:t>Impact of change</a:t>
            </a:r>
          </a:p>
          <a:p>
            <a:r>
              <a:rPr lang="en-US" altLang="en-US" sz="1200"/>
              <a:t>Length of impact</a:t>
            </a:r>
          </a:p>
          <a:p>
            <a:r>
              <a:rPr lang="en-US" altLang="en-US" sz="1200"/>
              <a:t>Change supportive of</a:t>
            </a:r>
          </a:p>
          <a:p>
            <a:r>
              <a:rPr lang="en-US" altLang="en-US" sz="1200"/>
              <a:t>   financial goals</a:t>
            </a:r>
          </a:p>
          <a:p>
            <a:r>
              <a:rPr lang="en-US" altLang="en-US" sz="1200"/>
              <a:t>Tracking mechanisms</a:t>
            </a:r>
          </a:p>
          <a:p>
            <a:r>
              <a:rPr lang="en-US" altLang="en-US" sz="1200"/>
              <a:t>Responsibility shifting</a:t>
            </a:r>
            <a:endParaRPr lang="en-US" altLang="en-US" sz="1600"/>
          </a:p>
          <a:p>
            <a:endParaRPr lang="en-US" altLang="en-US" sz="1600" b="1"/>
          </a:p>
          <a:p>
            <a:r>
              <a:rPr lang="en-US" altLang="en-US" sz="1600" b="1"/>
              <a:t>Corporate </a:t>
            </a:r>
          </a:p>
          <a:p>
            <a:r>
              <a:rPr lang="en-US" altLang="en-US" sz="1600" b="1"/>
              <a:t>    Direction</a:t>
            </a:r>
          </a:p>
          <a:p>
            <a:r>
              <a:rPr lang="en-US" altLang="en-US" sz="1200"/>
              <a:t>Communication</a:t>
            </a:r>
          </a:p>
          <a:p>
            <a:r>
              <a:rPr lang="en-US" altLang="en-US" sz="1200"/>
              <a:t>Alignment</a:t>
            </a:r>
          </a:p>
          <a:p>
            <a:r>
              <a:rPr lang="en-US" altLang="en-US" sz="1200"/>
              <a:t>Buy-in / Support</a:t>
            </a:r>
          </a:p>
          <a:p>
            <a:r>
              <a:rPr lang="en-US" altLang="en-US" sz="1200"/>
              <a:t>Specifics</a:t>
            </a:r>
          </a:p>
        </p:txBody>
      </p:sp>
      <p:sp>
        <p:nvSpPr>
          <p:cNvPr id="3087" name="Rectangle 17">
            <a:extLst>
              <a:ext uri="{FF2B5EF4-FFF2-40B4-BE49-F238E27FC236}">
                <a16:creationId xmlns:a16="http://schemas.microsoft.com/office/drawing/2014/main" id="{649A7594-71DF-900A-D944-0D3746026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4" y="6569075"/>
            <a:ext cx="1344921" cy="228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 b="1"/>
              <a:t>©</a:t>
            </a:r>
            <a:r>
              <a:rPr lang="en-US" altLang="en-US" sz="800" b="1"/>
              <a:t>2007 Cynthia K. Rose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517</Words>
  <Application>Microsoft Office PowerPoint</Application>
  <PresentationFormat>Widescreen</PresentationFormat>
  <Paragraphs>146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 Black</vt:lpstr>
      <vt:lpstr>Arial Narrow</vt:lpstr>
      <vt:lpstr>Monotype Corsiva</vt:lpstr>
      <vt:lpstr>Office Theme</vt:lpstr>
      <vt:lpstr>Organizational Change Management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Rose, Cindy</dc:creator>
  <cp:lastModifiedBy>Rose, Cindy</cp:lastModifiedBy>
  <cp:revision>6</cp:revision>
  <dcterms:created xsi:type="dcterms:W3CDTF">2025-03-18T20:27:39Z</dcterms:created>
  <dcterms:modified xsi:type="dcterms:W3CDTF">2025-06-23T12:45:42Z</dcterms:modified>
</cp:coreProperties>
</file>